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949403a5-051c-6fe7-4388-31a4a84b5d88}">
          <p14:sldIdLst>
            <p14:sldId id="256"/>
            <p14:sldId id="257"/>
            <p14:sldId id="258"/>
          </p14:sldIdLst>
        </p14:section>
        <p14:section name="Введение" id="{c0055f8d-1d70-a16b-e896-0673178802bf}">
          <p14:sldIdLst/>
        </p14:section>
        <p14:section name="Введение" id="{0b2a0670-c73e-506a-60a4-2117fa7d199e}">
          <p14:sldIdLst/>
        </p14:section>
        <p14:section name="Структура системы" id="{b00f939c-23cc-4223-ccfc-d4e879def8aa}">
          <p14:sldIdLst>
            <p14:sldId id="259"/>
          </p14:sldIdLst>
        </p14:section>
        <p14:section name="Алгоритм работы" id="{e6fff3e6-eec3-7cc7-e46f-b586a0373b96}">
          <p14:sldIdLst>
            <p14:sldId id="260"/>
          </p14:sldIdLst>
        </p14:section>
        <p14:section name="Аппаратная часть" id="{3de9e957-551a-50de-b870-8e0e976c2c22}">
          <p14:sldIdLst>
            <p14:sldId id="261"/>
          </p14:sldIdLst>
        </p14:section>
        <p14:section name="Модель в Wokwi" id="{8a6c96f6-9aee-3a89-fae2-066748c4cc64}">
          <p14:sldIdLst>
            <p14:sldId id="262"/>
          </p14:sldIdLst>
        </p14:section>
        <p14:section name="Прошивка и протокол" id="{88a5a71c-77b6-9a1e-56a4-defdf6f8a6e8}">
          <p14:sldIdLst>
            <p14:sldId id="263"/>
          </p14:sldIdLst>
        </p14:section>
        <p14:section name="База данных SQLite" id="{04505d9a-73a9-af1c-cf12-27a6fbcc974b}">
          <p14:sldIdLst>
            <p14:sldId id="264"/>
          </p14:sldIdLst>
        </p14:section>
        <p14:section name="Поток Node-RED" id="{b829d032-7cd8-1132-0ac5-ca940859a7a1}">
          <p14:sldIdLst>
            <p14:sldId id="265"/>
          </p14:sldIdLst>
        </p14:section>
        <p14:section name="Тестирование" id="{5a6f383d-3ae4-3097-b573-db7c94c4728c}">
          <p14:sldIdLst>
            <p14:sldId id="266"/>
          </p14:sldIdLst>
        </p14:section>
        <p14:section name="Объём данных и Git" id="{be938fe1-f42d-72e4-c961-d7cacbe9dd97}">
          <p14:sldIdLst>
            <p14:sldId id="267"/>
          </p14:sldIdLst>
        </p14:section>
        <p14:section name="Выводы" id="{6874deae-cffc-19bc-76b2-0930abadf84e}">
          <p14:sldIdLst>
            <p14:sldId id="268"/>
          </p14:sldIdLst>
        </p14:section>
        <p14:section name="Завершение" id="{cffe284a-a233-ac7a-df67-b4acaa68f994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Меня зовут Дмитрий Терехов, группа 54-15. Тема моего курсового проекта — разработка и сопровождение виртуальной системы сбора и учёта данных на Arduino. Мой вариант — двадцатый, «Газовая котельная».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Сначала коротко о цели, затем покажу структуру системы и алгоритм, аппаратную часть и модель в Wokwi. После этого — прошивку и формат данных, базу SQLite, поток Node-RED, проверки, объём данных и работу с Git. В конце — выводы. Работа выполнена по методическим материалам ПМ.02: схема, прошивка, база данных и пояснительная записка собраны в одном репозитории на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— построить цепочку от датчиков до базы данных. Три датчика: MQ2 по метану, потенциометр как датчик давления газа и PIR-датчик движения. Опрос каждые пять секунд. Если концентрация газа превышает двадцать процентов, включается реле и светодиод. Все показания и события должны попадать в SQLite без ручной правки. Проект учебный и не предназначен для управления реальным газовым оборудованием, но логика соответствует типовой задаче контроля загазованности.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Arduino Uno в симуляторе Wokwi опрашивает датчики и печатает строки в Serial Monitor. Эти строки сохраняются в файл log.txt. Node-RED читает файл, разбирает строки, проверяет диапазоны и записывает данные в SQLite. Каждый блок отвечает за одну задачу, поэтому цепочку легко проверять по частям. Файл с логом пока копируется вручную, это сознательное упрощение учебной модели, зато файл можно открыть и проверить глазами.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начале каждого цикла Arduino читает три датчика и пересчитывает коды АЦП в физические величины. Затем печатает строку DATA и сравнивает s1 с порогом двадцать процентов. Если состояние изменилось, печатает событие THRESHOLD или NORMAL и переключает реле и светодиод. После этого пауза до конца периода. Важно, что событие печатается только при смене состояния, поэтому в журнале нет повторяющихся тревог, а в базе — лишних строк.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Схема выполнена в EasyEDA по перечню элементов. Датчик MQ2 подключён к входу A1, потенциометр — к A2, PIR — к D2. Реле на выводе D5 с активным низким уровнем. Белый светодиод на D3 через резистор сто двадцать Ом: при питании пять вольт и падении три целых две десятых вольта ток около пятнадцати миллиампер. Схему и перечень элементов я оформил на листах с рамкой, они приведены в приложении пояснительной записки.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рабочая модель. Слева — состояние тревоги: газ выше порога, реле и светодиод включены. Справа — норма. Особенность Wokwi: в чистом воздухе MQ2 выдаёт код 210, поэтому в прошивке есть калибровка. Без неё s1 не опускалась ниже двадцати с половиной процентов и событие NORMAL получить было нельзя. Положение ползунка газа при каждом запуске симуляции возвращается к значению четыреста ppm, поэтому журнал всегда начинается с превышения порога. Это описано в записке.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Прошивка выводит два вида строк. DATA — каждый цикл, с номером цикла и тремя значениями. EVENT — только при смене состояния. Время в базе считается как номер цикла на пять секунд. Лог — это реальные строки из Serial Monitor, тридцать девять циклов, в нём три события: превышение, возврат в норму и новое превышение. Значения хранятся с двумя знаками после запятой, как их печатает прошивка, и без преобразований попадают в базу.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базе две таблицы. Таблица readings хранит по строке на каждый датчик в цикле, с уникальным ключом и проверками диапазонов. Таблица events хранит события. Загрузка полностью заменяет содержимое, поэтому повторный запуск не создаёт дублей. Для нашего лога получилось сто семнадцать показаний и три события. Для проверки подготовлены контрольные запросы: количество показаний, события по порядку и средние значения по датчикам.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Поток следит за файлом, разбивает его на строки и разбирает функцией parser. Если значение выходит за диапазон, Node-RED сам формирует событие FAULT, поскольку Arduino его не передаёт. Дальше формируется SQL, и данные записываются в базу. Поток запускается из папки проекта, потому что пути к файлу журнала и к базе заданы относительно неё.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 проверил три сценария. Первый — контрольные запросы на реальном логе: количества и события совпали. Второй — тест неисправности: значение s1 равно ста одному, и в базе появляется событие FAULT. Третий — повторная загрузка: количество строк не меняется. Логика скетча дополнительно проверена на заглушках Arduino. Эти проверки повторяемы: скрипты лежат в репозитории, а результаты сохранены в папке 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сутки накапливается семнадцать тысяч двести восемьдесят циклов и пятьдесят одна тысяча восемьсот сорок записей — около двух мегабайт. За тридцать дней — примерно шестьдесят два мегабайта, за год — около семисот пятидесяти семи. Для SQLite это небольшой объём. Проект оформлен в Git: пять коммитов по этапам и метка v1.0. История коммитов намеренно короткая и понятная: по одному коммиту на каждый этап работы.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достигнута: цепочка работает от датчиков до базы. Показания и события загружаются без дублей, неисправности обнаруживаются. Найдена и учтена особенность датчика MQ2 в Wokwi. Проект воспроизводим: запуск описан в README, проверки выполняются одной командой. Возможные улучшения — настоящее время вместо номера цикла и вывод графиков. Таким образом, виртуальная система выполняет все требования задания варианта двадцать.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Репозиторий проекта и модель Wokwi доступны по QR-коду и ссылкам на слайде. Спасибо за внимание, готов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F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4.xml"/><Relationship Id="rId3" Type="http://schemas.openxmlformats.org/officeDocument/2006/relationships/slide" Target="slide5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1.xml"/><Relationship Id="rId10" Type="http://schemas.openxmlformats.org/officeDocument/2006/relationships/slide" Target="slide12.xml"/><Relationship Id="rId11" Type="http://schemas.openxmlformats.org/officeDocument/2006/relationships/slide" Target="slide13.xml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fromhow/-20-" TargetMode="External"/><Relationship Id="rId2" Type="http://schemas.openxmlformats.org/officeDocument/2006/relationships/hyperlink" Target="https://wokwi.com/projects/477934511917259777" TargetMode="External"/><Relationship Id="rId3" Type="http://schemas.openxmlformats.org/officeDocument/2006/relationships/image" Target="../media/image-14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Фон круг 1"/>
          <p:cNvSpPr/>
          <p:nvPr/>
        </p:nvSpPr>
        <p:spPr>
          <a:xfrm>
            <a:off x="6309360" y="822960"/>
            <a:ext cx="3108960" cy="310896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4" name="Фон круг 2"/>
          <p:cNvSpPr/>
          <p:nvPr/>
        </p:nvSpPr>
        <p:spPr>
          <a:xfrm>
            <a:off x="7040880" y="1554480"/>
            <a:ext cx="1645920" cy="1645920"/>
          </a:xfrm>
          <a:prstGeom prst="ellipse">
            <a:avLst/>
          </a:prstGeom>
          <a:solidFill>
            <a:schemeClr val="accent1">
              <a:alpha val="60000"/>
            </a:scheme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2"/>
                </a:solidFill>
              </a:rPr>
              <a:t>Курсовой проект ПМ.02 · Петровский колледж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Виртуальная система сбора и учёта данных на Arduino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432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Вариант 20 — «Газовая котельная»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7490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6DF"/>
                </a:solidFill>
              </a:rPr>
              <a:t>Выполнил: Терехов Д. И., группа 54-15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6DF"/>
                </a:solidFill>
              </a:rPr>
              <a:t>Руководители: Борисов Е. Н., Дадаев М. В.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Содержание</a:t>
            </a:r>
            <a:endParaRPr lang="en-US" sz="3200" dirty="0"/>
          </a:p>
        </p:txBody>
      </p:sp>
      <p:sp>
        <p:nvSpPr>
          <p:cNvPr id="4" name="Номер 1"/>
          <p:cNvSpPr/>
          <p:nvPr/>
        </p:nvSpPr>
        <p:spPr>
          <a:xfrm>
            <a:off x="548640" y="12801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>
            <a:hlinkClick r:id="rId1" tooltip="Перейти к слайду 3" action="ppaction://hlinksldjump"/>
          </p:cNvPr>
          <p:cNvSpPr txBox="1"/>
          <p:nvPr/>
        </p:nvSpPr>
        <p:spPr>
          <a:xfrm>
            <a:off x="1051560" y="126187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chemeClr val="tx1"/>
                </a:solidFill>
                <a:hlinkClick r:id="rId1" action="ppaction://hlinksldjump" tooltip="Перейти к слайду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Цель и постановка</a:t>
            </a:r>
            <a:endParaRPr lang="en-US" sz="1800" dirty="0"/>
          </a:p>
        </p:txBody>
      </p:sp>
      <p:sp>
        <p:nvSpPr>
          <p:cNvPr id="7" name="Номер 2"/>
          <p:cNvSpPr/>
          <p:nvPr/>
        </p:nvSpPr>
        <p:spPr>
          <a:xfrm>
            <a:off x="548640" y="184708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6">
            <a:hlinkClick r:id="rId2" tooltip="Перейти к слайду 4" action="ppaction://hlinksldjump"/>
          </p:cNvPr>
          <p:cNvSpPr txBox="1"/>
          <p:nvPr/>
        </p:nvSpPr>
        <p:spPr>
          <a:xfrm>
            <a:off x="1051560" y="182880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chemeClr val="tx1"/>
                </a:solidFill>
                <a:hlinkClick r:id="rId2" action="ppaction://hlinksldjump" tooltip="Перейти к слайду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Структура системы</a:t>
            </a:r>
            <a:endParaRPr lang="en-US" sz="1800" dirty="0"/>
          </a:p>
        </p:txBody>
      </p:sp>
      <p:sp>
        <p:nvSpPr>
          <p:cNvPr id="10" name="Номер 3"/>
          <p:cNvSpPr/>
          <p:nvPr/>
        </p:nvSpPr>
        <p:spPr>
          <a:xfrm>
            <a:off x="548640" y="241401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9">
            <a:hlinkClick r:id="rId3" tooltip="Перейти к слайду 5" action="ppaction://hlinksldjump"/>
          </p:cNvPr>
          <p:cNvSpPr txBox="1"/>
          <p:nvPr/>
        </p:nvSpPr>
        <p:spPr>
          <a:xfrm>
            <a:off x="1051560" y="239572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chemeClr val="tx1"/>
                </a:solidFill>
                <a:hlinkClick r:id="rId3" action="ppaction://hlinksldjump" tooltip="Перейти к слайду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Алгоритм работы</a:t>
            </a:r>
            <a:endParaRPr lang="en-US" sz="1800" dirty="0"/>
          </a:p>
        </p:txBody>
      </p:sp>
      <p:sp>
        <p:nvSpPr>
          <p:cNvPr id="13" name="Номер 4"/>
          <p:cNvSpPr/>
          <p:nvPr/>
        </p:nvSpPr>
        <p:spPr>
          <a:xfrm>
            <a:off x="548640" y="298094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2">
            <a:hlinkClick r:id="rId4" tooltip="Перейти к слайду 6" action="ppaction://hlinksldjump"/>
          </p:cNvPr>
          <p:cNvSpPr txBox="1"/>
          <p:nvPr/>
        </p:nvSpPr>
        <p:spPr>
          <a:xfrm>
            <a:off x="1051560" y="296265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chemeClr val="tx1"/>
                </a:solidFill>
                <a:hlinkClick r:id="rId4" action="ppaction://hlinksldjump" tooltip="Перейти к слайду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Аппаратная часть</a:t>
            </a:r>
            <a:endParaRPr lang="en-US" sz="1800" dirty="0"/>
          </a:p>
        </p:txBody>
      </p:sp>
      <p:sp>
        <p:nvSpPr>
          <p:cNvPr id="16" name="Номер 5"/>
          <p:cNvSpPr/>
          <p:nvPr/>
        </p:nvSpPr>
        <p:spPr>
          <a:xfrm>
            <a:off x="548640" y="354787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5">
            <a:hlinkClick r:id="rId5" tooltip="Перейти к слайду 7" action="ppaction://hlinksldjump"/>
          </p:cNvPr>
          <p:cNvSpPr txBox="1"/>
          <p:nvPr/>
        </p:nvSpPr>
        <p:spPr>
          <a:xfrm>
            <a:off x="1051560" y="352958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chemeClr val="tx1"/>
                </a:solidFill>
                <a:hlinkClick r:id="rId5" action="ppaction://hlinksldjump" tooltip="Перейти к слайду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Модель в Wokwi</a:t>
            </a:r>
            <a:endParaRPr lang="en-US" sz="1800" dirty="0"/>
          </a:p>
        </p:txBody>
      </p:sp>
      <p:sp>
        <p:nvSpPr>
          <p:cNvPr id="19" name="Номер 6"/>
          <p:cNvSpPr/>
          <p:nvPr/>
        </p:nvSpPr>
        <p:spPr>
          <a:xfrm>
            <a:off x="548640" y="41148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Text 18">
            <a:hlinkClick r:id="rId6" tooltip="Перейти к слайду 8" action="ppaction://hlinksldjump"/>
          </p:cNvPr>
          <p:cNvSpPr txBox="1"/>
          <p:nvPr/>
        </p:nvSpPr>
        <p:spPr>
          <a:xfrm>
            <a:off x="1051560" y="409651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chemeClr val="tx1"/>
                </a:solidFill>
                <a:hlinkClick r:id="rId6" action="ppaction://hlinksldjump" tooltip="Перейти к слайду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Прошивка и протокол</a:t>
            </a:r>
            <a:endParaRPr lang="en-US" sz="1800" dirty="0"/>
          </a:p>
        </p:txBody>
      </p:sp>
      <p:sp>
        <p:nvSpPr>
          <p:cNvPr id="22" name="Номер 7"/>
          <p:cNvSpPr/>
          <p:nvPr/>
        </p:nvSpPr>
        <p:spPr>
          <a:xfrm>
            <a:off x="4663440" y="12801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66344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24" name="Text 21">
            <a:hlinkClick r:id="rId7" tooltip="Перейти к слайду 9" action="ppaction://hlinksldjump"/>
          </p:cNvPr>
          <p:cNvSpPr txBox="1"/>
          <p:nvPr/>
        </p:nvSpPr>
        <p:spPr>
          <a:xfrm>
            <a:off x="5166360" y="126187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chemeClr val="tx1"/>
                </a:solidFill>
                <a:hlinkClick r:id="rId7" action="ppaction://hlinksldjump" tooltip="Перейти к слайду 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База данных SQLite</a:t>
            </a:r>
            <a:endParaRPr lang="en-US" sz="1800" dirty="0"/>
          </a:p>
        </p:txBody>
      </p:sp>
      <p:sp>
        <p:nvSpPr>
          <p:cNvPr id="25" name="Номер 8"/>
          <p:cNvSpPr/>
          <p:nvPr/>
        </p:nvSpPr>
        <p:spPr>
          <a:xfrm>
            <a:off x="4663440" y="184708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66344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27" name="Text 24">
            <a:hlinkClick r:id="rId8" tooltip="Перейти к слайду 10" action="ppaction://hlinksldjump"/>
          </p:cNvPr>
          <p:cNvSpPr txBox="1"/>
          <p:nvPr/>
        </p:nvSpPr>
        <p:spPr>
          <a:xfrm>
            <a:off x="5166360" y="182880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chemeClr val="tx1"/>
                </a:solidFill>
                <a:hlinkClick r:id="rId8" action="ppaction://hlinksldjump" tooltip="Перейти к слайду 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Поток Node-RED</a:t>
            </a:r>
            <a:endParaRPr lang="en-US" sz="1800" dirty="0"/>
          </a:p>
        </p:txBody>
      </p:sp>
      <p:sp>
        <p:nvSpPr>
          <p:cNvPr id="28" name="Номер 9"/>
          <p:cNvSpPr/>
          <p:nvPr/>
        </p:nvSpPr>
        <p:spPr>
          <a:xfrm>
            <a:off x="4663440" y="241401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466344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30" name="Text 27">
            <a:hlinkClick r:id="rId9" tooltip="Перейти к слайду 11" action="ppaction://hlinksldjump"/>
          </p:cNvPr>
          <p:cNvSpPr txBox="1"/>
          <p:nvPr/>
        </p:nvSpPr>
        <p:spPr>
          <a:xfrm>
            <a:off x="5166360" y="239572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chemeClr val="tx1"/>
                </a:solidFill>
                <a:hlinkClick r:id="rId9" action="ppaction://hlinksldjump" tooltip="Перейти к слайду 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Тестирование</a:t>
            </a:r>
            <a:endParaRPr lang="en-US" sz="1800" dirty="0"/>
          </a:p>
        </p:txBody>
      </p:sp>
      <p:sp>
        <p:nvSpPr>
          <p:cNvPr id="31" name="Номер 10"/>
          <p:cNvSpPr/>
          <p:nvPr/>
        </p:nvSpPr>
        <p:spPr>
          <a:xfrm>
            <a:off x="4663440" y="298094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663440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33" name="Text 30">
            <a:hlinkClick r:id="rId10" tooltip="Перейти к слайду 12" action="ppaction://hlinksldjump"/>
          </p:cNvPr>
          <p:cNvSpPr txBox="1"/>
          <p:nvPr/>
        </p:nvSpPr>
        <p:spPr>
          <a:xfrm>
            <a:off x="5166360" y="296265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chemeClr val="tx1"/>
                </a:solidFill>
                <a:hlinkClick r:id="rId10" action="ppaction://hlinksldjump" tooltip="Перейти к слайду 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Объём данных и Git</a:t>
            </a:r>
            <a:endParaRPr lang="en-US" sz="1800" dirty="0"/>
          </a:p>
        </p:txBody>
      </p:sp>
      <p:sp>
        <p:nvSpPr>
          <p:cNvPr id="34" name="Номер 11"/>
          <p:cNvSpPr/>
          <p:nvPr/>
        </p:nvSpPr>
        <p:spPr>
          <a:xfrm>
            <a:off x="4663440" y="354787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4663440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11</a:t>
            </a:r>
            <a:endParaRPr lang="en-US" sz="1400" dirty="0"/>
          </a:p>
        </p:txBody>
      </p:sp>
      <p:sp>
        <p:nvSpPr>
          <p:cNvPr id="36" name="Text 33">
            <a:hlinkClick r:id="rId11" tooltip="Перейти к слайду 13" action="ppaction://hlinksldjump"/>
          </p:cNvPr>
          <p:cNvSpPr txBox="1"/>
          <p:nvPr/>
        </p:nvSpPr>
        <p:spPr>
          <a:xfrm>
            <a:off x="5166360" y="352958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chemeClr val="tx1"/>
                </a:solidFill>
                <a:hlinkClick r:id="rId11" action="ppaction://hlinksldjump" tooltip="Перейти к слайду 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Выводы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 и постановка</a:t>
            </a:r>
            <a:endParaRPr lang="en-US" sz="3200" dirty="0"/>
          </a:p>
        </p:txBody>
      </p:sp>
      <p:sp>
        <p:nvSpPr>
          <p:cNvPr id="4" name="Карточка MQ2 · s1"/>
          <p:cNvSpPr/>
          <p:nvPr/>
        </p:nvSpPr>
        <p:spPr>
          <a:xfrm>
            <a:off x="548640" y="1371600"/>
            <a:ext cx="38404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81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MQ2 · s1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Метан 0–100 %, вход A1, порог s1 &gt; 20 %</a:t>
            </a:r>
            <a:endParaRPr lang="en-US" sz="1400" dirty="0"/>
          </a:p>
        </p:txBody>
      </p:sp>
      <p:sp>
        <p:nvSpPr>
          <p:cNvPr id="7" name="Карточка Потенциометр · s2"/>
          <p:cNvSpPr/>
          <p:nvPr/>
        </p:nvSpPr>
        <p:spPr>
          <a:xfrm>
            <a:off x="4663440" y="1371600"/>
            <a:ext cx="38404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1481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Потенциометр · s2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Давление газа 0–5 бар, вход A2</a:t>
            </a:r>
            <a:endParaRPr lang="en-US" sz="1400" dirty="0"/>
          </a:p>
        </p:txBody>
      </p:sp>
      <p:sp>
        <p:nvSpPr>
          <p:cNvPr id="10" name="Карточка PIR · s3"/>
          <p:cNvSpPr/>
          <p:nvPr/>
        </p:nvSpPr>
        <p:spPr>
          <a:xfrm>
            <a:off x="548640" y="2697480"/>
            <a:ext cx="38404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8072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PIR · s3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200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Движение 0/1, вход D2</a:t>
            </a:r>
            <a:endParaRPr lang="en-US" sz="1400" dirty="0"/>
          </a:p>
        </p:txBody>
      </p:sp>
      <p:sp>
        <p:nvSpPr>
          <p:cNvPr id="13" name="Карточка Реле и LED"/>
          <p:cNvSpPr/>
          <p:nvPr/>
        </p:nvSpPr>
        <p:spPr>
          <a:xfrm>
            <a:off x="4663440" y="2697480"/>
            <a:ext cx="38404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46320" y="28072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Реле и LED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3200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Реле D5, белый LED D3 через R1 = 120 Ом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Период опроса T = 5 с  ·  Arduino → Serial → log.txt → Node-RED → SQLite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Структура системы</a:t>
            </a:r>
            <a:endParaRPr lang="en-US" sz="3200" dirty="0"/>
          </a:p>
        </p:txBody>
      </p:sp>
      <p:pic>
        <p:nvPicPr>
          <p:cNvPr id="4" name="Структурная схема" descr="Структурная схема систем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88958"/>
            <a:ext cx="8046720" cy="1559843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Каждый блок решает одну задачу — цепочку проверяют по частям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 работы</a:t>
            </a:r>
            <a:endParaRPr lang="en-US" sz="3200" dirty="0"/>
          </a:p>
        </p:txBody>
      </p:sp>
      <p:pic>
        <p:nvPicPr>
          <p:cNvPr id="4" name="Блок-схема" descr="Блок-схема алгоритм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8716"/>
            <a:ext cx="4480560" cy="319472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394960" y="1371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1.  Чтение s1, s2, s3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5394960" y="1965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2.  Пересчёт кодов АЦП в единицы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5394960" y="2560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3.  Печать строки DATA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394960" y="3154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4.  Сравнение s1 с порогом 20 %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394960" y="3749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5.  Событие и реле — только при смене состояния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Аппаратная часть</a:t>
            </a:r>
            <a:endParaRPr lang="en-US" sz="3200" dirty="0"/>
          </a:p>
        </p:txBody>
      </p:sp>
      <p:pic>
        <p:nvPicPr>
          <p:cNvPr id="4" name="Схема EasyEDA" descr="Принципиальная схема в EasyE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35007"/>
            <a:ext cx="5120640" cy="261638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94360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A1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MQ2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594360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A2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потенциометр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5943600" y="2468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D2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PIR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94360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D5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реле, актив. LOW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943600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D3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LED + R1 120 Ом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94360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I = (5 − 3,2) / 120 ≈ 15 мА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в Wokwi</a:t>
            </a:r>
            <a:endParaRPr lang="en-US" sz="3200" dirty="0"/>
          </a:p>
        </p:txBody>
      </p:sp>
      <p:pic>
        <p:nvPicPr>
          <p:cNvPr id="4" name="Wokwi — тревога" descr="Wokwi — тревог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143000"/>
            <a:ext cx="2331720" cy="286218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463040" y="405090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Тревога: s1 выше порога</a:t>
            </a:r>
            <a:endParaRPr lang="en-US" sz="1400" dirty="0"/>
          </a:p>
        </p:txBody>
      </p:sp>
      <p:pic>
        <p:nvPicPr>
          <p:cNvPr id="6" name="Wokwi — норма" descr="Wokwi — норм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43000"/>
            <a:ext cx="2331720" cy="2862186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4572000" y="405090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Норма: реле выключено</a:t>
            </a:r>
            <a:endParaRPr lang="en-US" sz="14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Калибровка MQ2: код АЦП в чистом воздухе = 210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Прошивка и протокол</a:t>
            </a:r>
            <a:endParaRPr lang="en-US" sz="3200" dirty="0"/>
          </a:p>
        </p:txBody>
      </p:sp>
      <p:sp>
        <p:nvSpPr>
          <p:cNvPr id="4" name="Блок кода"/>
          <p:cNvSpPr/>
          <p:nvPr/>
        </p:nvSpPr>
        <p:spPr>
          <a:xfrm>
            <a:off x="548640" y="1280160"/>
            <a:ext cx="4846320" cy="301752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6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int S1_CLEAN = 210;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6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 = 100·(ADC − 210) / (1023 − 210)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6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 = constrain(s1, 0, 100);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6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6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n=1 s1=85.73 s2=0.00 s3=0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6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 n=1 type=THRESHOLD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6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n=23 s1=0.00 s2=0.00 s3=0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6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 n=23 type=NORMAL</a:t>
            </a:r>
            <a:endParaRPr lang="en-US" sz="1400" dirty="0"/>
          </a:p>
        </p:txBody>
      </p:sp>
      <p:sp>
        <p:nvSpPr>
          <p:cNvPr id="6" name="Карточка циклов в логе"/>
          <p:cNvSpPr/>
          <p:nvPr/>
        </p:nvSpPr>
        <p:spPr>
          <a:xfrm>
            <a:off x="5760720" y="1280160"/>
            <a:ext cx="28346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0" y="1371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19019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циклов в логе</a:t>
            </a:r>
            <a:endParaRPr lang="en-US" sz="1200" dirty="0"/>
          </a:p>
        </p:txBody>
      </p:sp>
      <p:sp>
        <p:nvSpPr>
          <p:cNvPr id="9" name="Карточка события"/>
          <p:cNvSpPr/>
          <p:nvPr/>
        </p:nvSpPr>
        <p:spPr>
          <a:xfrm>
            <a:off x="5760720" y="2331720"/>
            <a:ext cx="28346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52160" y="2423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29535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события</a:t>
            </a:r>
            <a:endParaRPr lang="en-US" sz="1200" dirty="0"/>
          </a:p>
        </p:txBody>
      </p:sp>
      <p:sp>
        <p:nvSpPr>
          <p:cNvPr id="12" name="Карточка секунд"/>
          <p:cNvSpPr/>
          <p:nvPr/>
        </p:nvSpPr>
        <p:spPr>
          <a:xfrm>
            <a:off x="5760720" y="3383280"/>
            <a:ext cx="28346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52160" y="3474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n·5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5852160" y="40050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секунд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База данных SQLite</a:t>
            </a:r>
            <a:endParaRPr lang="en-US" sz="3200" dirty="0"/>
          </a:p>
        </p:txBody>
      </p:sp>
      <p:pic>
        <p:nvPicPr>
          <p:cNvPr id="4" name="ER-диаграмма" descr="ER-диаграмма базы данны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58684"/>
            <a:ext cx="4754880" cy="158031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32004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Загрузка заменяет таблицы — дублей нет. UNIQUE(n, sensor) и CHECK по диапазонам.</a:t>
            </a:r>
            <a:endParaRPr lang="en-US" sz="1400" dirty="0"/>
          </a:p>
        </p:txBody>
      </p:sp>
      <p:sp>
        <p:nvSpPr>
          <p:cNvPr id="6" name="Карточка строк readings"/>
          <p:cNvSpPr/>
          <p:nvPr/>
        </p:nvSpPr>
        <p:spPr>
          <a:xfrm>
            <a:off x="5669280" y="1280160"/>
            <a:ext cx="29260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76072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117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5760720" y="1901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строк readings</a:t>
            </a:r>
            <a:endParaRPr lang="en-US" sz="1200" dirty="0"/>
          </a:p>
        </p:txBody>
      </p:sp>
      <p:sp>
        <p:nvSpPr>
          <p:cNvPr id="9" name="Карточка записи events"/>
          <p:cNvSpPr/>
          <p:nvPr/>
        </p:nvSpPr>
        <p:spPr>
          <a:xfrm>
            <a:off x="5669280" y="2514600"/>
            <a:ext cx="29260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760720" y="2606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5760720" y="3136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записи events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Поток Node-RED</a:t>
            </a:r>
            <a:endParaRPr lang="en-US" sz="3200" dirty="0"/>
          </a:p>
        </p:txBody>
      </p:sp>
      <p:pic>
        <p:nvPicPr>
          <p:cNvPr id="4" name="Поток Node-RED" descr="Редактор Node-R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4303" y="1188720"/>
            <a:ext cx="5915394" cy="3017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Файл → строки → parser (диапазоны, FAULT) → SQL → SQLite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Тестирование</a:t>
            </a:r>
            <a:endParaRPr lang="en-US" sz="3200" dirty="0"/>
          </a:p>
        </p:txBody>
      </p:sp>
      <p:pic>
        <p:nvPicPr>
          <p:cNvPr id="4" name="Терминал — запросы" descr="Результат контрольных запросов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75649"/>
            <a:ext cx="4754880" cy="2295022"/>
          </a:xfrm>
          <a:prstGeom prst="rect">
            <a:avLst/>
          </a:prstGeom>
        </p:spPr>
      </p:pic>
      <p:pic>
        <p:nvPicPr>
          <p:cNvPr id="5" name="Терминал — FAULT" descr="Тест неисправности FAU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3657600"/>
            <a:ext cx="3017520" cy="100584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577840" y="1371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Запросы: 117 и 3 — как в ожидании</a:t>
            </a:r>
            <a:endParaRPr lang="en-US" sz="1600" dirty="0"/>
          </a:p>
        </p:txBody>
      </p:sp>
      <p:sp>
        <p:nvSpPr>
          <p:cNvPr id="7" name="Text 2"/>
          <p:cNvSpPr txBox="1"/>
          <p:nvPr/>
        </p:nvSpPr>
        <p:spPr>
          <a:xfrm>
            <a:off x="5577840" y="2148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FAULT: s1 = 101 → событие в базе</a:t>
            </a:r>
            <a:endParaRPr lang="en-US" sz="1600" dirty="0"/>
          </a:p>
        </p:txBody>
      </p:sp>
      <p:sp>
        <p:nvSpPr>
          <p:cNvPr id="8" name="Text 3"/>
          <p:cNvSpPr txBox="1"/>
          <p:nvPr/>
        </p:nvSpPr>
        <p:spPr>
          <a:xfrm>
            <a:off x="5577840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Повторная загрузка: без дублей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5577840" y="3703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Логика скетча — тест на заглушках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Объём данных и Git</a:t>
            </a:r>
            <a:endParaRPr lang="en-US" sz="3200" dirty="0"/>
          </a:p>
        </p:txBody>
      </p:sp>
      <p:sp>
        <p:nvSpPr>
          <p:cNvPr id="4" name="Карточка циклов в сутки"/>
          <p:cNvSpPr/>
          <p:nvPr/>
        </p:nvSpPr>
        <p:spPr>
          <a:xfrm>
            <a:off x="548640" y="1188720"/>
            <a:ext cx="25603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80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17 280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8105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циклов в сутки</a:t>
            </a:r>
            <a:endParaRPr lang="en-US" sz="1200" dirty="0"/>
          </a:p>
        </p:txBody>
      </p:sp>
      <p:sp>
        <p:nvSpPr>
          <p:cNvPr id="7" name="Карточка записей в сутки"/>
          <p:cNvSpPr/>
          <p:nvPr/>
        </p:nvSpPr>
        <p:spPr>
          <a:xfrm>
            <a:off x="3291840" y="1188720"/>
            <a:ext cx="25603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83280" y="1280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51 840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18105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записей в сутки</a:t>
            </a:r>
            <a:endParaRPr lang="en-US" sz="1200" dirty="0"/>
          </a:p>
        </p:txBody>
      </p:sp>
      <p:sp>
        <p:nvSpPr>
          <p:cNvPr id="10" name="Карточка в сутки"/>
          <p:cNvSpPr/>
          <p:nvPr/>
        </p:nvSpPr>
        <p:spPr>
          <a:xfrm>
            <a:off x="6035040" y="1188720"/>
            <a:ext cx="25603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26480" y="1280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2,07 МБ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18105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в сутки</a:t>
            </a:r>
            <a:endParaRPr lang="en-US" sz="1200" dirty="0"/>
          </a:p>
        </p:txBody>
      </p:sp>
      <p:sp>
        <p:nvSpPr>
          <p:cNvPr id="13" name="Карточка за 30 дней"/>
          <p:cNvSpPr/>
          <p:nvPr/>
        </p:nvSpPr>
        <p:spPr>
          <a:xfrm>
            <a:off x="548640" y="2423160"/>
            <a:ext cx="25603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514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62,2 МБ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044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за 30 дней</a:t>
            </a:r>
            <a:endParaRPr lang="en-US" sz="1200" dirty="0"/>
          </a:p>
        </p:txBody>
      </p:sp>
      <p:sp>
        <p:nvSpPr>
          <p:cNvPr id="16" name="Карточка за 365 дней"/>
          <p:cNvSpPr/>
          <p:nvPr/>
        </p:nvSpPr>
        <p:spPr>
          <a:xfrm>
            <a:off x="3291840" y="2423160"/>
            <a:ext cx="25603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83280" y="2514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757 МБ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3383280" y="3044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за 365 дней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3840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Git: 5 коммитов по этапам, метка v1.0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структура и схема · модель и прошивка · база и Node-RED · журналы и тесты · записка и презентация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Выводы</a:t>
            </a:r>
            <a:endParaRPr lang="en-US" sz="3200" dirty="0"/>
          </a:p>
        </p:txBody>
      </p:sp>
      <p:sp>
        <p:nvSpPr>
          <p:cNvPr id="4" name="Карточка Цепочка работает"/>
          <p:cNvSpPr/>
          <p:nvPr/>
        </p:nvSpPr>
        <p:spPr>
          <a:xfrm>
            <a:off x="548640" y="1280160"/>
            <a:ext cx="38404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5" name="Метка 1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4447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Цепочка работает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Датчики → Serial → Node-RED → SQLite</a:t>
            </a:r>
            <a:endParaRPr lang="en-US" sz="1400" dirty="0"/>
          </a:p>
        </p:txBody>
      </p:sp>
      <p:sp>
        <p:nvSpPr>
          <p:cNvPr id="9" name="Карточка Данные надёжны"/>
          <p:cNvSpPr/>
          <p:nvPr/>
        </p:nvSpPr>
        <p:spPr>
          <a:xfrm>
            <a:off x="4663440" y="1280160"/>
            <a:ext cx="38404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0" name="Метка 2"/>
          <p:cNvSpPr/>
          <p:nvPr/>
        </p:nvSpPr>
        <p:spPr>
          <a:xfrm>
            <a:off x="4846320" y="146304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463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440680" y="14447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 надёжны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Без дублей, FAULT при выходе за диапазон</a:t>
            </a:r>
            <a:endParaRPr lang="en-US" sz="1400" dirty="0"/>
          </a:p>
        </p:txBody>
      </p:sp>
      <p:sp>
        <p:nvSpPr>
          <p:cNvPr id="14" name="Карточка Учтён MQ2 в Wokwi"/>
          <p:cNvSpPr/>
          <p:nvPr/>
        </p:nvSpPr>
        <p:spPr>
          <a:xfrm>
            <a:off x="548640" y="2834640"/>
            <a:ext cx="38404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5" name="Метка 3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29992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Учтён MQ2 в Wokwi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35661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Калибровка кода 210 даёт NORMAL</a:t>
            </a:r>
            <a:endParaRPr lang="en-US" sz="1400" dirty="0"/>
          </a:p>
        </p:txBody>
      </p:sp>
      <p:sp>
        <p:nvSpPr>
          <p:cNvPr id="19" name="Карточка Воспроизводимо"/>
          <p:cNvSpPr/>
          <p:nvPr/>
        </p:nvSpPr>
        <p:spPr>
          <a:xfrm>
            <a:off x="4663440" y="2834640"/>
            <a:ext cx="38404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20" name="Метка 4"/>
          <p:cNvSpPr/>
          <p:nvPr/>
        </p:nvSpPr>
        <p:spPr>
          <a:xfrm>
            <a:off x="4846320" y="30175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8463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40680" y="29992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Воспроизводимо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4846320" y="35661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README, скрипты проверок, тег v1.0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9144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Готов ответить на вопросы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00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u="sng" dirty="0">
                <a:solidFill>
                  <a:srgbClr val="CBD6D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github.com/fromhow/-20-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u="sng" dirty="0">
                <a:solidFill>
                  <a:srgbClr val="CBD6DF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wokwi.com/projects/477934511917259777</a:t>
            </a:r>
            <a:endParaRPr lang="en-US" sz="1400" dirty="0"/>
          </a:p>
        </p:txBody>
      </p:sp>
      <p:sp>
        <p:nvSpPr>
          <p:cNvPr id="6" name="Подложка QR"/>
          <p:cNvSpPr/>
          <p:nvPr/>
        </p:nvSpPr>
        <p:spPr>
          <a:xfrm>
            <a:off x="6035040" y="109728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pic>
        <p:nvPicPr>
          <p:cNvPr id="7" name="QR" descr="QR-код репозитория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2286000" cy="22860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035040" y="3749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6DF"/>
                </a:solidFill>
              </a:rPr>
              <a:t>Репозиторий проекта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Котельная">
  <a:themeElements>
    <a:clrScheme name="Котельная">
      <a:dk1>
        <a:srgbClr val="1B2430"/>
      </a:dk1>
      <a:lt1>
        <a:srgbClr val="FFFFFF"/>
      </a:lt1>
      <a:dk2>
        <a:srgbClr val="0F2A3A"/>
      </a:dk2>
      <a:lt2>
        <a:srgbClr val="EEF2F5"/>
      </a:lt2>
      <a:accent1>
        <a:srgbClr val="E8731A"/>
      </a:accent1>
      <a:accent2>
        <a:srgbClr val="1F7A8C"/>
      </a:accent2>
      <a:accent3>
        <a:srgbClr val="3E8E5A"/>
      </a:accent3>
      <a:accent4>
        <a:srgbClr val="C0392B"/>
      </a:accent4>
      <a:accent5>
        <a:srgbClr val="5B6B7B"/>
      </a:accent5>
      <a:accent6>
        <a:srgbClr val="F2B134"/>
      </a:accent6>
      <a:hlink>
        <a:srgbClr val="1F7A8C"/>
      </a:hlink>
      <a:folHlink>
        <a:srgbClr val="5B6B7B"/>
      </a:folHlink>
    </a:clrScheme>
    <a:fontScheme name="Котельная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Газовая котельная — вариант 20</dc:title>
  <dc:subject>PptxGenJS Presentation</dc:subject>
  <dc:creator>Терехов Д. И.</dc:creator>
  <cp:lastModifiedBy>Терехов Д. И.</cp:lastModifiedBy>
  <cp:revision>1</cp:revision>
  <dcterms:created xsi:type="dcterms:W3CDTF">2026-10-29T13:55:16Z</dcterms:created>
  <dcterms:modified xsi:type="dcterms:W3CDTF">2026-10-29T13:55:16Z</dcterms:modified>
</cp:coreProperties>
</file>